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  <p:sldMasterId id="2147483662" r:id="rId5"/>
  </p:sldMasterIdLst>
  <p:notesMasterIdLst>
    <p:notesMasterId r:id="rId25"/>
  </p:notesMasterIdLst>
  <p:sldIdLst>
    <p:sldId id="452" r:id="rId6"/>
    <p:sldId id="623" r:id="rId7"/>
    <p:sldId id="624" r:id="rId8"/>
    <p:sldId id="625" r:id="rId9"/>
    <p:sldId id="630" r:id="rId10"/>
    <p:sldId id="626" r:id="rId11"/>
    <p:sldId id="627" r:id="rId12"/>
    <p:sldId id="628" r:id="rId13"/>
    <p:sldId id="629" r:id="rId14"/>
    <p:sldId id="613" r:id="rId15"/>
    <p:sldId id="615" r:id="rId16"/>
    <p:sldId id="616" r:id="rId17"/>
    <p:sldId id="617" r:id="rId18"/>
    <p:sldId id="618" r:id="rId19"/>
    <p:sldId id="614" r:id="rId20"/>
    <p:sldId id="619" r:id="rId21"/>
    <p:sldId id="620" r:id="rId22"/>
    <p:sldId id="621" r:id="rId23"/>
    <p:sldId id="62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04685-9409-4767-9F35-B04B98FB3CF1}" v="268" dt="2025-09-26T04:14:06.541"/>
    <p1510:client id="{4F5AB5D3-6DF6-42A4-5487-E4C8343E7D6F}" v="2" dt="2025-09-26T05:41:46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222" autoAdjust="0"/>
  </p:normalViewPr>
  <p:slideViewPr>
    <p:cSldViewPr snapToGrid="0">
      <p:cViewPr varScale="1">
        <p:scale>
          <a:sx n="64" d="100"/>
          <a:sy n="64" d="100"/>
        </p:scale>
        <p:origin x="13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0A2CB-105A-41EC-AF42-2324BEBC12EA}" type="datetimeFigureOut"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93830-90D5-42D7-885A-4FBC2F943D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6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1F758E-DBAF-4408-82F3-BDD7DC9F3B6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71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Every day, thousands of scientific papers are published… and most of that knowledge gets buried. Not because the science is wrong, but because the information is disorganized.</a:t>
            </a:r>
          </a:p>
          <a:p>
            <a:r>
              <a:rPr lang="en-CA" dirty="0"/>
              <a:t>When we started working with the HAL database, I realized something important: researchers are producing knowledge faster than we can structure it. And without structure, knowledge gets lost. That’s where this project was born. </a:t>
            </a:r>
            <a:r>
              <a:rPr lang="en-CA" dirty="0" err="1"/>
              <a:t>SciKey</a:t>
            </a:r>
            <a:r>
              <a:rPr lang="en-CA" dirty="0"/>
              <a:t> is our attempt to close that gap and help machines understand a scientific language that humans write in a thousand different ways.”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93830-90D5-42D7-885A-4FBC2F943DFB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56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BAB0-A4AD-1AE3-EC8B-D4737CB1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F40B0-D6AC-62D2-647D-7B0155532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01BF-E00B-C620-05C4-86E7161D3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6526D-FADD-BE7D-4C0B-58E19F67D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93830-90D5-42D7-885A-4FBC2F943DF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754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03301"/>
            <a:ext cx="10972800" cy="2397313"/>
          </a:xfrm>
          <a:prstGeom prst="rect">
            <a:avLst/>
          </a:prstGeom>
        </p:spPr>
        <p:txBody>
          <a:bodyPr anchor="b" anchorCtr="0"/>
          <a:lstStyle>
            <a:lvl1pPr>
              <a:defRPr sz="54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3400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126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715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495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09601" y="2108201"/>
            <a:ext cx="10972800" cy="33655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16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48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825626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426200" y="1825625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44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193368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2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193368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30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1733" y="987426"/>
            <a:ext cx="6299200" cy="451242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chemeClr val="bg1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121723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39317" y="62622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chemeClr val="bg1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223599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03301"/>
            <a:ext cx="10972800" cy="2397313"/>
          </a:xfrm>
          <a:prstGeom prst="rect">
            <a:avLst/>
          </a:prstGeom>
        </p:spPr>
        <p:txBody>
          <a:bodyPr anchor="b" anchorCtr="0"/>
          <a:lstStyle>
            <a:lvl1pPr>
              <a:defRPr sz="54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3400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50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715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495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09601" y="2108201"/>
            <a:ext cx="10972800" cy="33655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16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54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825626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426200" y="1825625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94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>
                <a:solidFill>
                  <a:srgbClr val="F15A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193368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2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193368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113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1733" y="987426"/>
            <a:ext cx="6299200" cy="451242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rgbClr val="F15A22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246631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39317" y="62622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rgbClr val="F15A22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3080059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96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 userDrawn="1"/>
        </p:nvSpPr>
        <p:spPr>
          <a:xfrm>
            <a:off x="0" y="4578841"/>
            <a:ext cx="12192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8533" y="5664200"/>
            <a:ext cx="3183467" cy="1193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64200"/>
            <a:ext cx="4572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7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marL="0" marR="0" indent="0" algn="l" defTabSz="4572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800" b="0" i="0" kern="1200">
          <a:solidFill>
            <a:schemeClr val="bg1"/>
          </a:solidFill>
          <a:latin typeface="Cambria"/>
          <a:ea typeface="+mj-ea"/>
          <a:cs typeface="Cambria"/>
        </a:defRPr>
      </a:lvl1pPr>
    </p:titleStyle>
    <p:bodyStyle>
      <a:lvl1pPr marL="342900" marR="0" indent="-342900" algn="l" defTabSz="457200" rtl="0" eaLnBrk="1" fontAlgn="auto" latinLnBrk="0" hangingPunct="1">
        <a:lnSpc>
          <a:spcPts val="21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5664200"/>
            <a:ext cx="12192000" cy="1193800"/>
          </a:xfrm>
          <a:prstGeom prst="rect">
            <a:avLst/>
          </a:prstGeom>
          <a:solidFill>
            <a:srgbClr val="F1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 userDrawn="1"/>
        </p:nvSpPr>
        <p:spPr>
          <a:xfrm>
            <a:off x="0" y="4578841"/>
            <a:ext cx="12192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8533" y="5664200"/>
            <a:ext cx="3183467" cy="1193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64200"/>
            <a:ext cx="4572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0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txStyles>
    <p:titleStyle>
      <a:lvl1pPr marL="0" marR="0" indent="0" algn="l" defTabSz="4572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400" b="0" i="0" kern="1200">
          <a:solidFill>
            <a:srgbClr val="FF6600"/>
          </a:solidFill>
          <a:latin typeface="Cambria"/>
          <a:ea typeface="+mj-ea"/>
          <a:cs typeface="Cambria"/>
        </a:defRPr>
      </a:lvl1pPr>
    </p:titleStyle>
    <p:bodyStyle>
      <a:lvl1pPr marL="342900" marR="0" indent="-342900" algn="l" defTabSz="457200" rtl="0" eaLnBrk="1" fontAlgn="auto" latinLnBrk="0" hangingPunct="1">
        <a:lnSpc>
          <a:spcPts val="21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93E13AF1-3824-267C-5FBB-64526E2E0375}"/>
              </a:ext>
            </a:extLst>
          </p:cNvPr>
          <p:cNvSpPr txBox="1">
            <a:spLocks/>
          </p:cNvSpPr>
          <p:nvPr/>
        </p:nvSpPr>
        <p:spPr>
          <a:xfrm>
            <a:off x="1869688" y="2869324"/>
            <a:ext cx="8452624" cy="769425"/>
          </a:xfrm>
          <a:prstGeom prst="rect">
            <a:avLst/>
          </a:prstGeom>
        </p:spPr>
        <p:txBody>
          <a:bodyPr lIns="91440" tIns="45720" rIns="91440" bIns="45720" anchor="b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white"/>
                </a:solidFill>
                <a:latin typeface="Cambria"/>
              </a:rPr>
              <a:t>Project </a:t>
            </a:r>
            <a:r>
              <a:rPr lang="en-US" sz="4400" dirty="0" err="1">
                <a:solidFill>
                  <a:prstClr val="white"/>
                </a:solidFill>
                <a:latin typeface="Cambria"/>
              </a:rPr>
              <a:t>SciKey</a:t>
            </a:r>
            <a:r>
              <a:rPr lang="en-US" sz="4400" dirty="0">
                <a:solidFill>
                  <a:prstClr val="white"/>
                </a:solidFill>
                <a:latin typeface="Cambria"/>
              </a:rPr>
              <a:t>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87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1A09-8430-68D1-C3C7-6011CB40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E69B1-C26D-255E-2FB6-D80253F19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FD895-9E10-E6CC-DC17-1F1D208E109F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450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E25B-1405-E5FA-EA2E-74FAA441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B34D-5ED0-03DC-950D-2436DF43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91D23-F128-1AB9-AF74-AA6293E3D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35A7D-DDAD-52E7-8837-FC0E87367FE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/>
              <a:t>Scientific keywords are supposed to describe the core concepts of a paper… but in reality, they behave like </a:t>
            </a:r>
            <a:r>
              <a:rPr lang="en-CA" dirty="0">
                <a:solidFill>
                  <a:srgbClr val="FF0000"/>
                </a:solidFill>
              </a:rPr>
              <a:t>confusing concepts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One word can mean five completely different things depending on the discipline.</a:t>
            </a:r>
          </a:p>
        </p:txBody>
      </p:sp>
    </p:spTree>
    <p:extLst>
      <p:ext uri="{BB962C8B-B14F-4D97-AF65-F5344CB8AC3E}">
        <p14:creationId xmlns:p14="http://schemas.microsoft.com/office/powerpoint/2010/main" val="75678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3394-0276-4285-BDB7-A950E916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Context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D9494-3879-6A04-2946-A059E084E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633D7-0EAA-C9ED-DB25-2B344121272B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/>
              <a:t>This project uses data from HAL, a large French scientific repository.</a:t>
            </a:r>
            <a:br>
              <a:rPr lang="en-CA" dirty="0"/>
            </a:br>
            <a:r>
              <a:rPr lang="en-CA" dirty="0"/>
              <a:t>Our goal was not only to extract keywords from HAL, but to map each keyword to the correct </a:t>
            </a:r>
            <a:r>
              <a:rPr lang="en-CA" dirty="0" err="1"/>
              <a:t>Wikidata</a:t>
            </a:r>
            <a:r>
              <a:rPr lang="en-CA" dirty="0"/>
              <a:t> </a:t>
            </a:r>
            <a:r>
              <a:rPr lang="en-CA" dirty="0" err="1"/>
              <a:t>QID</a:t>
            </a:r>
            <a:r>
              <a:rPr lang="en-CA" dirty="0"/>
              <a:t>.</a:t>
            </a:r>
          </a:p>
          <a:p>
            <a:r>
              <a:rPr lang="en-CA" dirty="0"/>
              <a:t>Why </a:t>
            </a:r>
            <a:r>
              <a:rPr lang="en-CA" dirty="0" err="1"/>
              <a:t>Wikidata</a:t>
            </a:r>
            <a:r>
              <a:rPr lang="en-CA" dirty="0"/>
              <a:t>?</a:t>
            </a:r>
            <a:br>
              <a:rPr lang="en-CA" dirty="0"/>
            </a:br>
            <a:r>
              <a:rPr lang="en-CA" dirty="0"/>
              <a:t>Because it’s structured, multilingual, and concept-based.</a:t>
            </a:r>
            <a:br>
              <a:rPr lang="en-CA" dirty="0"/>
            </a:br>
            <a:r>
              <a:rPr lang="en-CA" dirty="0"/>
              <a:t>If we can anchor each scientific keyword to the right </a:t>
            </a:r>
            <a:r>
              <a:rPr lang="en-CA" dirty="0" err="1"/>
              <a:t>QID</a:t>
            </a:r>
            <a:r>
              <a:rPr lang="en-CA" dirty="0"/>
              <a:t>, then we can:</a:t>
            </a:r>
          </a:p>
          <a:p>
            <a:r>
              <a:rPr lang="en-CA" dirty="0"/>
              <a:t>Improve search</a:t>
            </a:r>
          </a:p>
          <a:p>
            <a:r>
              <a:rPr lang="en-CA" dirty="0"/>
              <a:t>Build domain networks</a:t>
            </a:r>
          </a:p>
          <a:p>
            <a:r>
              <a:rPr lang="en-CA" dirty="0"/>
              <a:t>Enable cross-disciplinary analysis</a:t>
            </a:r>
          </a:p>
          <a:p>
            <a:r>
              <a:rPr lang="en-CA" dirty="0"/>
              <a:t>And support downstream machine learning tasks</a:t>
            </a:r>
          </a:p>
          <a:p>
            <a:r>
              <a:rPr lang="en-CA" dirty="0"/>
              <a:t>So the objective is about creating a bridge between unstructured scientific language and structured knowledge graphs.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091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4F11-24E3-5829-21BF-29BC61E06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EE8EB-4E45-9214-6C53-31AC18859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A9C58-A64F-89C7-D3D7-F9AC455A75F9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391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1480-E156-DC7D-F058-FB57A5D6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24C8-AAEF-7BFF-8CAC-EDE0A9D0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D5E5F-3085-7853-3605-7BC22756F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/>
              <a:t>High-Level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C7D2B-E4AD-4AD5-495B-E666AAFC30D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 err="1"/>
              <a:t>SciKey</a:t>
            </a:r>
            <a:r>
              <a:rPr lang="en-CA" dirty="0"/>
              <a:t> works as a multi-stage pipeline:</a:t>
            </a:r>
          </a:p>
          <a:p>
            <a:pPr lvl="1"/>
            <a:r>
              <a:rPr lang="en-CA" dirty="0"/>
              <a:t>Keyword extraction</a:t>
            </a:r>
          </a:p>
          <a:p>
            <a:pPr lvl="1"/>
            <a:r>
              <a:rPr lang="en-CA" dirty="0"/>
              <a:t>Enrichment: fetching labels, aliases, descriptions, </a:t>
            </a:r>
            <a:r>
              <a:rPr lang="en-CA" dirty="0" err="1"/>
              <a:t>P31</a:t>
            </a:r>
            <a:r>
              <a:rPr lang="en-CA" dirty="0"/>
              <a:t>, </a:t>
            </a:r>
            <a:r>
              <a:rPr lang="en-CA" dirty="0" err="1"/>
              <a:t>P279</a:t>
            </a:r>
            <a:r>
              <a:rPr lang="en-CA" dirty="0"/>
              <a:t> paths</a:t>
            </a:r>
          </a:p>
          <a:p>
            <a:pPr lvl="1"/>
            <a:r>
              <a:rPr lang="en-CA" dirty="0"/>
              <a:t>Scoring: combining all textual and structural signals</a:t>
            </a:r>
          </a:p>
          <a:p>
            <a:pPr lvl="1"/>
            <a:r>
              <a:rPr lang="en-CA" dirty="0"/>
              <a:t>Ranking </a:t>
            </a:r>
            <a:r>
              <a:rPr lang="en-CA" dirty="0" err="1"/>
              <a:t>QIDs</a:t>
            </a:r>
            <a:endParaRPr lang="en-CA" dirty="0"/>
          </a:p>
          <a:p>
            <a:pPr lvl="1"/>
            <a:r>
              <a:rPr lang="en-CA" dirty="0"/>
              <a:t>Selecting the best match</a:t>
            </a:r>
          </a:p>
          <a:p>
            <a:pPr lvl="1"/>
            <a:r>
              <a:rPr lang="en-CA" dirty="0"/>
              <a:t>Exporting results to MySQL and </a:t>
            </a:r>
            <a:r>
              <a:rPr lang="en-CA" dirty="0" err="1"/>
              <a:t>Neo4j</a:t>
            </a:r>
            <a:r>
              <a:rPr lang="en-CA" dirty="0"/>
              <a:t> for visualization</a:t>
            </a:r>
          </a:p>
          <a:p>
            <a:r>
              <a:rPr lang="en-CA" dirty="0"/>
              <a:t>Each stage contributes to a more reliable understanding of the keyword.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428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5EAE-1BDC-A0C4-6EF1-276DDDD1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C1D6-9DA6-1E8B-DE35-19E64E03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Technical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0A6FF-6074-642E-9320-CD4D9C500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38857-B390-C932-5AA6-4825F3A8DAFE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/>
              <a:t>Now the core of the system is the </a:t>
            </a:r>
            <a:r>
              <a:rPr lang="en-CA" b="1" dirty="0"/>
              <a:t>scoring engine, </a:t>
            </a:r>
            <a:r>
              <a:rPr lang="en-CA" dirty="0"/>
              <a:t>the part that decides which </a:t>
            </a:r>
            <a:r>
              <a:rPr lang="en-CA" dirty="0" err="1"/>
              <a:t>QID</a:t>
            </a:r>
            <a:r>
              <a:rPr lang="en-CA" dirty="0"/>
              <a:t> is the most accurate.</a:t>
            </a:r>
            <a:br>
              <a:rPr lang="en-CA" dirty="0"/>
            </a:br>
            <a:r>
              <a:rPr lang="en-CA" dirty="0"/>
              <a:t>We designed it by combining several signals:</a:t>
            </a:r>
          </a:p>
          <a:p>
            <a:pPr lvl="1"/>
            <a:r>
              <a:rPr lang="en-CA" b="1" dirty="0"/>
              <a:t>Label similarity:</a:t>
            </a:r>
            <a:r>
              <a:rPr lang="en-CA" dirty="0"/>
              <a:t> fuzzy match between the keyword and the </a:t>
            </a:r>
            <a:r>
              <a:rPr lang="en-CA" dirty="0" err="1"/>
              <a:t>QID</a:t>
            </a:r>
            <a:r>
              <a:rPr lang="en-CA" dirty="0"/>
              <a:t> label</a:t>
            </a:r>
          </a:p>
          <a:p>
            <a:pPr lvl="1"/>
            <a:r>
              <a:rPr lang="en-CA" b="1" dirty="0"/>
              <a:t>Alias boost:</a:t>
            </a:r>
            <a:r>
              <a:rPr lang="en-CA" dirty="0"/>
              <a:t> especially helpful when a synonym is exact</a:t>
            </a:r>
          </a:p>
          <a:p>
            <a:pPr lvl="1"/>
            <a:r>
              <a:rPr lang="en-CA" b="1" dirty="0"/>
              <a:t>Context similarity:</a:t>
            </a:r>
            <a:r>
              <a:rPr lang="en-CA" dirty="0"/>
              <a:t> matching the keyword with abstract, title, and domain context</a:t>
            </a:r>
          </a:p>
          <a:p>
            <a:pPr lvl="1"/>
            <a:r>
              <a:rPr lang="en-CA" b="1" dirty="0" err="1"/>
              <a:t>P31</a:t>
            </a:r>
            <a:r>
              <a:rPr lang="en-CA" b="1" dirty="0"/>
              <a:t> and </a:t>
            </a:r>
            <a:r>
              <a:rPr lang="en-CA" b="1" dirty="0" err="1"/>
              <a:t>P279</a:t>
            </a:r>
            <a:r>
              <a:rPr lang="en-CA" b="1" dirty="0"/>
              <a:t> signals:</a:t>
            </a:r>
            <a:r>
              <a:rPr lang="en-CA" dirty="0"/>
              <a:t> instance-of and subclass-of help ensure semantic correctness</a:t>
            </a:r>
          </a:p>
          <a:p>
            <a:pPr lvl="1"/>
            <a:r>
              <a:rPr lang="en-CA" b="1" dirty="0"/>
              <a:t>Sitelinks weight:</a:t>
            </a:r>
            <a:r>
              <a:rPr lang="en-CA" dirty="0"/>
              <a:t> higher sitelinks = stronger, well-established concept</a:t>
            </a:r>
          </a:p>
          <a:p>
            <a:r>
              <a:rPr lang="en-CA" dirty="0"/>
              <a:t>We also implemented debug tools such as debug_scores.csv that record every step of the scoring, allowing me to evaluate and refine each weight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313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FB7E-8B46-41C3-A808-2639B0EE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5E66-404A-3912-D160-06823541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DF0D4-D22C-5599-F68F-2D8D58579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/>
              <a:t>High-Level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FF07-488E-3043-8766-5D43F10F4D89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 err="1"/>
              <a:t>SciKey</a:t>
            </a:r>
            <a:r>
              <a:rPr lang="en-CA" dirty="0"/>
              <a:t> isn’t hardcoded for chemistry or biology.</a:t>
            </a:r>
          </a:p>
          <a:p>
            <a:r>
              <a:rPr lang="en-CA" dirty="0"/>
              <a:t>The engine was designed to be </a:t>
            </a:r>
            <a:r>
              <a:rPr lang="en-CA" b="1" dirty="0"/>
              <a:t>domain-agnostic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The same logic works for:</a:t>
            </a:r>
          </a:p>
          <a:p>
            <a:pPr lvl="1"/>
            <a:r>
              <a:rPr lang="en-CA" dirty="0"/>
              <a:t>chemistry</a:t>
            </a:r>
          </a:p>
          <a:p>
            <a:pPr lvl="1"/>
            <a:r>
              <a:rPr lang="en-CA" dirty="0"/>
              <a:t>Civil engineering</a:t>
            </a:r>
          </a:p>
          <a:p>
            <a:pPr lvl="1"/>
            <a:r>
              <a:rPr lang="en-CA" dirty="0"/>
              <a:t>Political science</a:t>
            </a:r>
          </a:p>
          <a:p>
            <a:pPr lvl="1"/>
            <a:r>
              <a:rPr lang="en-CA" dirty="0"/>
              <a:t>Marketing</a:t>
            </a:r>
          </a:p>
          <a:p>
            <a:r>
              <a:rPr lang="en-CA" dirty="0"/>
              <a:t>This makes the system scalable for future repositories.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993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87C2-6B62-48B8-732F-CABD437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5A1A-1B51-BEA9-0096-A27D7764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8E470-5ABB-3CC7-B35F-407A93468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/>
              <a:t>High-Level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A6939-CE5B-4884-CAB2-E52D5B53030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9671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4CC2-A848-D0FC-D13A-A6B5D178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93C10E-962F-2672-2B62-F5E54672A68E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044DE-339C-611E-2E8E-E5A6A15B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26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C6FD-2D28-AAFC-192B-DBB6FF2A3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1DE8CF-56C6-6431-57C8-35D42D3AFA6D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890B1E-C38B-84C9-E7AB-DCBD0E21C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BE1A2BF-A4D6-C75A-06A2-2A97509E496F}"/>
              </a:ext>
            </a:extLst>
          </p:cNvPr>
          <p:cNvSpPr/>
          <p:nvPr/>
        </p:nvSpPr>
        <p:spPr>
          <a:xfrm>
            <a:off x="-102636" y="2202023"/>
            <a:ext cx="3480318" cy="2453951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6203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777D-FB6A-7CFC-DF66-B9B70C0CA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FFB3882-03AA-350A-6E95-6DC64F255977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Data Extraction from HAL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74992-46F8-D416-639B-B82DF10C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8" y="1627157"/>
            <a:ext cx="669094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0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8116-77B9-459B-7695-875D06CF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DD4809-9BBB-B3BC-CB32-754075135343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9CC15-65C2-8211-1C6D-5BFBCFF0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ABF7843-5582-FE69-2DFE-65AC27C24741}"/>
              </a:ext>
            </a:extLst>
          </p:cNvPr>
          <p:cNvSpPr/>
          <p:nvPr/>
        </p:nvSpPr>
        <p:spPr>
          <a:xfrm>
            <a:off x="2734831" y="1934519"/>
            <a:ext cx="5956681" cy="322107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715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B242-A7D8-E5B4-0730-FBD69D96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01767C5-D459-629A-F54F-0A0A39C9FA49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Wikidata</a:t>
            </a:r>
            <a:endParaRPr kumimoji="0" lang="en-CA" sz="3600" b="1" i="0" u="none" strike="noStrike" kern="1200" cap="none" spc="0" normalizeH="0" baseline="0" noProof="0" dirty="0">
              <a:ln>
                <a:noFill/>
              </a:ln>
              <a:solidFill>
                <a:srgbClr val="F15A22"/>
              </a:solidFill>
              <a:effectLst/>
              <a:uLnTx/>
              <a:uFillTx/>
              <a:latin typeface="Cambria" panose="02040503050406030204" pitchFamily="18" charset="0"/>
              <a:ea typeface="Roboto Th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D7FE4B-97EB-1887-626F-BA263FD4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899"/>
            <a:ext cx="12192000" cy="46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84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EDA5-03DC-536A-3BA9-3AAF4C6F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FE6C1B-85DA-DFFE-7530-F001FAF9719B}"/>
              </a:ext>
            </a:extLst>
          </p:cNvPr>
          <p:cNvSpPr txBox="1">
            <a:spLocks/>
          </p:cNvSpPr>
          <p:nvPr/>
        </p:nvSpPr>
        <p:spPr>
          <a:xfrm>
            <a:off x="675247" y="25581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Final documentation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E7128-2CEC-9E75-F6AE-EE03FE6BA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333" y="1113781"/>
            <a:ext cx="10202420" cy="57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1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533B5-B813-1FBF-07D3-25E4A2AD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2EAC0C7-4D2F-A1BA-B54B-DC060B95BB98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34420-C5B4-5505-B94A-E2ECFF1B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977540F-BA93-4618-7270-58A108C46F5E}"/>
              </a:ext>
            </a:extLst>
          </p:cNvPr>
          <p:cNvSpPr/>
          <p:nvPr/>
        </p:nvSpPr>
        <p:spPr>
          <a:xfrm>
            <a:off x="6645897" y="1934519"/>
            <a:ext cx="3299381" cy="322107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9002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2C27-329C-AD3C-6EBC-BA0F9F73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177F078-5529-5BD2-4A7F-13306B874417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Human Validation and </a:t>
            </a:r>
            <a:r>
              <a:rPr kumimoji="0" lang="en-CA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Neo4j</a:t>
            </a: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 + MySQL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C751E-55CA-5731-D801-EBF638A3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683" y="944664"/>
            <a:ext cx="5692633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05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BD58-FB1A-D5E2-C8FB-D348175D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37DDD3-650D-8C21-0531-EBA6AE08AE7E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4B2CF-3E7D-6049-E9EF-63391FB5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59A06AC-E1BA-656A-B817-0B2EAF163612}"/>
              </a:ext>
            </a:extLst>
          </p:cNvPr>
          <p:cNvSpPr/>
          <p:nvPr/>
        </p:nvSpPr>
        <p:spPr>
          <a:xfrm>
            <a:off x="7022969" y="2036190"/>
            <a:ext cx="5033913" cy="197962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16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2CF0-30F0-B590-E605-73525D93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6E953B8-D6B0-B0DD-2FBF-543850D8C351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Application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38AE4-2B59-4F70-E98B-79881E0CE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75" y="1916299"/>
            <a:ext cx="10272650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80732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3f7fe4-4a0b-4a73-89e5-cd77d14116ce">
      <Terms xmlns="http://schemas.microsoft.com/office/infopath/2007/PartnerControls"/>
    </lcf76f155ced4ddcb4097134ff3c332f>
    <TaxCatchAll xmlns="22aa7d73-b866-4b82-9af1-1d0ac6ddfa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A4D670D293704E9AAFB7C46A7C1CD6" ma:contentTypeVersion="16" ma:contentTypeDescription="Create a new document." ma:contentTypeScope="" ma:versionID="2129be0ab634420bbee764d4875ab3e5">
  <xsd:schema xmlns:xsd="http://www.w3.org/2001/XMLSchema" xmlns:xs="http://www.w3.org/2001/XMLSchema" xmlns:p="http://schemas.microsoft.com/office/2006/metadata/properties" xmlns:ns2="043f7fe4-4a0b-4a73-89e5-cd77d14116ce" xmlns:ns3="22aa7d73-b866-4b82-9af1-1d0ac6ddfacf" targetNamespace="http://schemas.microsoft.com/office/2006/metadata/properties" ma:root="true" ma:fieldsID="ce021a69343d9be7de65a4785ea8b8d6" ns2:_="" ns3:_="">
    <xsd:import namespace="043f7fe4-4a0b-4a73-89e5-cd77d14116ce"/>
    <xsd:import namespace="22aa7d73-b866-4b82-9af1-1d0ac6ddf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3f7fe4-4a0b-4a73-89e5-cd77d14116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1d2dd0-13a9-4df6-a0d3-7a3610e8c5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a7d73-b866-4b82-9af1-1d0ac6ddf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62360d8-fa0d-4a1d-97c7-0015902f7a88}" ma:internalName="TaxCatchAll" ma:showField="CatchAllData" ma:web="22aa7d73-b866-4b82-9af1-1d0ac6ddf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3C65A3-44F6-40CE-B9ED-76EBA0507B28}">
  <ds:schemaRefs>
    <ds:schemaRef ds:uri="043f7fe4-4a0b-4a73-89e5-cd77d14116ce"/>
    <ds:schemaRef ds:uri="22aa7d73-b866-4b82-9af1-1d0ac6ddfac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C545B71-46EE-4D46-84BE-F3D18B94DCEE}">
  <ds:schemaRefs>
    <ds:schemaRef ds:uri="043f7fe4-4a0b-4a73-89e5-cd77d14116ce"/>
    <ds:schemaRef ds:uri="22aa7d73-b866-4b82-9af1-1d0ac6ddf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4B0060-2E55-4310-A4D6-F4EC3DED61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512</Words>
  <Application>Microsoft Office PowerPoint</Application>
  <PresentationFormat>Widescreen</PresentationFormat>
  <Paragraphs>56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4_Office Theme</vt:lpstr>
      <vt:lpstr>1_Office Theme</vt:lpstr>
      <vt:lpstr>PowerPoint Presentation</vt:lpstr>
      <vt:lpstr>Opening </vt:lpstr>
      <vt:lpstr>Problem</vt:lpstr>
      <vt:lpstr>Project Context </vt:lpstr>
      <vt:lpstr>PowerPoint Presentation</vt:lpstr>
      <vt:lpstr>Solution</vt:lpstr>
      <vt:lpstr>Key Technical Components</vt:lpstr>
      <vt:lpstr>Generalization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Hau Man Yeung</dc:creator>
  <cp:lastModifiedBy>Maria Sandate Trejo</cp:lastModifiedBy>
  <cp:revision>8</cp:revision>
  <dcterms:created xsi:type="dcterms:W3CDTF">2022-04-05T20:03:39Z</dcterms:created>
  <dcterms:modified xsi:type="dcterms:W3CDTF">2025-11-17T23:31:53Z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0x01010015A4D670D293704E9AAFB7C46A7C1CD6</vt:lpwstr>
  </property>
  <property fmtid="{D5CDD505-2E9C-101B-9397-08002B2CF9AE}" pid="3" name="MediaServiceImageTags">
    <vt:lpwstr/>
  </property>
</Properties>
</file>